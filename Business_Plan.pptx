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76" r:id="rId3"/>
    <p:sldId id="277" r:id="rId4"/>
    <p:sldId id="278" r:id="rId5"/>
    <p:sldId id="280" r:id="rId6"/>
    <p:sldId id="279" r:id="rId7"/>
    <p:sldId id="281" r:id="rId8"/>
    <p:sldId id="282" r:id="rId9"/>
    <p:sldId id="283" r:id="rId10"/>
    <p:sldId id="274" r:id="rId11"/>
    <p:sldId id="264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6400"/>
    <a:srgbClr val="FF5900"/>
    <a:srgbClr val="E6E6E6"/>
    <a:srgbClr val="EBEBEB"/>
    <a:srgbClr val="DBDBDB"/>
    <a:srgbClr val="E1E1E1"/>
    <a:srgbClr val="DEDEDE"/>
    <a:srgbClr val="FF4C05"/>
    <a:srgbClr val="F5F5F5"/>
    <a:srgbClr val="EB3C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napToGrid="0">
      <p:cViewPr varScale="1">
        <p:scale>
          <a:sx n="70" d="100"/>
          <a:sy n="70" d="100"/>
        </p:scale>
        <p:origin x="-726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86BBF-38DE-4B34-833D-210BC6F66615}" type="datetimeFigureOut">
              <a:rPr lang="en-US" smtClean="0"/>
              <a:pPr/>
              <a:t>9/16/2015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BE67B-2C32-4802-A81D-5FD8EA0D95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339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2BE67B-2C32-4802-A81D-5FD8EA0D954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5738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255107" y="263770"/>
            <a:ext cx="11682101" cy="6332433"/>
          </a:xfrm>
          <a:prstGeom prst="rect">
            <a:avLst/>
          </a:prstGeom>
          <a:gradFill>
            <a:gsLst>
              <a:gs pos="100000">
                <a:srgbClr val="FF5900"/>
              </a:gs>
              <a:gs pos="18000">
                <a:srgbClr val="D24726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37770" y="2338905"/>
            <a:ext cx="10515600" cy="2560320"/>
          </a:xfrm>
        </p:spPr>
        <p:txBody>
          <a:bodyPr anchor="t">
            <a:normAutofit/>
          </a:bodyPr>
          <a:lstStyle>
            <a:lvl1pPr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9" name="Title 1"/>
          <p:cNvSpPr txBox="1">
            <a:spLocks/>
          </p:cNvSpPr>
          <p:nvPr userDrawn="1"/>
        </p:nvSpPr>
        <p:spPr>
          <a:xfrm>
            <a:off x="737770" y="5344808"/>
            <a:ext cx="4112136" cy="5718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600" b="1" dirty="0" err="1" smtClean="0"/>
              <a:t>PatientsClub</a:t>
            </a:r>
            <a:r>
              <a:rPr lang="en-US" altLang="zh-CN" sz="2600" dirty="0" smtClean="0"/>
              <a:t> </a:t>
            </a:r>
            <a:r>
              <a:rPr lang="zh-CN" altLang="en-US" sz="2500" dirty="0" smtClean="0"/>
              <a:t>商业计划书</a:t>
            </a:r>
            <a:endParaRPr lang="en-US" sz="2500" dirty="0"/>
          </a:p>
        </p:txBody>
      </p:sp>
    </p:spTree>
    <p:extLst>
      <p:ext uri="{BB962C8B-B14F-4D97-AF65-F5344CB8AC3E}">
        <p14:creationId xmlns="" xmlns:p14="http://schemas.microsoft.com/office/powerpoint/2010/main" val="189265894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18000">
                <a:srgbClr val="F5F5F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719" y="2360613"/>
            <a:ext cx="10515600" cy="2583086"/>
          </a:xfrm>
        </p:spPr>
        <p:txBody>
          <a:bodyPr/>
          <a:lstStyle>
            <a:lvl2pPr>
              <a:defRPr sz="1400"/>
            </a:lvl2pPr>
            <a:lvl3pPr>
              <a:defRPr sz="15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4434" y="1428247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560614" y="1743721"/>
            <a:ext cx="4733925" cy="5127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700">
                <a:latin typeface="Segoe UI Semibold"/>
                <a:cs typeface="Segoe UI Semibold"/>
              </a:defRPr>
            </a:lvl1pPr>
            <a:lvl2pPr marL="457200" indent="0">
              <a:buFontTx/>
              <a:buNone/>
              <a:defRPr sz="1600">
                <a:latin typeface="Segoe UI Semibold"/>
                <a:cs typeface="Segoe UI Semibold"/>
              </a:defRPr>
            </a:lvl2pPr>
            <a:lvl3pPr marL="914400" indent="0">
              <a:buFontTx/>
              <a:buNone/>
              <a:defRPr sz="1600">
                <a:latin typeface="Segoe UI Semibold"/>
                <a:cs typeface="Segoe UI Semibold"/>
              </a:defRPr>
            </a:lvl3pPr>
            <a:lvl4pPr marL="1371600" indent="0">
              <a:buFontTx/>
              <a:buNone/>
              <a:defRPr sz="1600">
                <a:latin typeface="Segoe UI Semibold"/>
                <a:cs typeface="Segoe UI Semibold"/>
              </a:defRPr>
            </a:lvl4pPr>
            <a:lvl5pPr marL="1828800" indent="0">
              <a:buFontTx/>
              <a:buNone/>
              <a:defRPr sz="1600">
                <a:latin typeface="Segoe UI Semibold"/>
                <a:cs typeface="Segoe UI Semibold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137641311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18000">
                <a:srgbClr val="F5F5F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000" y="1743319"/>
            <a:ext cx="5181600" cy="4351338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/>
            </a:lvl1pPr>
            <a:lvl2pPr>
              <a:buClr>
                <a:schemeClr val="bg1">
                  <a:lumMod val="50000"/>
                </a:schemeClr>
              </a:buClr>
              <a:defRPr/>
            </a:lvl2pPr>
            <a:lvl3pPr>
              <a:buClr>
                <a:schemeClr val="bg1">
                  <a:lumMod val="50000"/>
                </a:schemeClr>
              </a:buClr>
              <a:defRPr/>
            </a:lvl3pPr>
            <a:lvl4pPr>
              <a:buClr>
                <a:schemeClr val="bg1">
                  <a:lumMod val="50000"/>
                </a:schemeClr>
              </a:buClr>
              <a:defRPr/>
            </a:lvl4pPr>
            <a:lvl5pPr>
              <a:buClr>
                <a:schemeClr val="bg1">
                  <a:lumMod val="50000"/>
                </a:schemeClr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7000" y="1743319"/>
            <a:ext cx="5181600" cy="4351338"/>
          </a:xfrm>
        </p:spPr>
        <p:txBody>
          <a:bodyPr/>
          <a:lstStyle>
            <a:lvl1pPr>
              <a:buClr>
                <a:schemeClr val="bg1">
                  <a:lumMod val="50000"/>
                </a:schemeClr>
              </a:buClr>
              <a:defRPr/>
            </a:lvl1pPr>
            <a:lvl2pPr>
              <a:buClr>
                <a:schemeClr val="bg1">
                  <a:lumMod val="50000"/>
                </a:schemeClr>
              </a:buClr>
              <a:defRPr/>
            </a:lvl2pPr>
            <a:lvl3pPr>
              <a:buClr>
                <a:schemeClr val="bg1">
                  <a:lumMod val="50000"/>
                </a:schemeClr>
              </a:buClr>
              <a:defRPr/>
            </a:lvl3pPr>
            <a:lvl4pPr>
              <a:buClr>
                <a:schemeClr val="bg1">
                  <a:lumMod val="50000"/>
                </a:schemeClr>
              </a:buClr>
              <a:defRPr/>
            </a:lvl4pPr>
            <a:lvl5pPr>
              <a:buClr>
                <a:schemeClr val="bg1">
                  <a:lumMod val="50000"/>
                </a:schemeClr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4434" y="1428247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35331547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239356" y="262784"/>
            <a:ext cx="11683049" cy="6332433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18000">
                <a:srgbClr val="F5F5F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08923" y="341609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51931" y="1812940"/>
            <a:ext cx="7726680" cy="43525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04434" y="1428247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7227742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Accen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18000">
                <a:srgbClr val="F5F5F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Rectangle 21"/>
          <p:cNvSpPr/>
          <p:nvPr userDrawn="1"/>
        </p:nvSpPr>
        <p:spPr>
          <a:xfrm>
            <a:off x="254950" y="262784"/>
            <a:ext cx="11682101" cy="2077107"/>
          </a:xfrm>
          <a:prstGeom prst="rect">
            <a:avLst/>
          </a:prstGeom>
          <a:gradFill>
            <a:gsLst>
              <a:gs pos="100000">
                <a:srgbClr val="FF5900"/>
              </a:gs>
              <a:gs pos="18000">
                <a:srgbClr val="D24726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="" xmlns:p14="http://schemas.microsoft.com/office/powerpoint/2010/main" val="28515636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18000">
                <a:srgbClr val="F5F5F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679" y="3523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719" y="2354538"/>
            <a:ext cx="10515600" cy="3542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604434" y="1428247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/>
          <p:cNvSpPr txBox="1">
            <a:spLocks/>
          </p:cNvSpPr>
          <p:nvPr userDrawn="1"/>
        </p:nvSpPr>
        <p:spPr>
          <a:xfrm>
            <a:off x="564664" y="1796817"/>
            <a:ext cx="5206795" cy="67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700" b="0" dirty="0" smtClean="0">
                <a:latin typeface="Segoe UI Semibold"/>
                <a:cs typeface="Segoe UI Semibold"/>
              </a:rPr>
              <a:t>Click to edit Master text styles</a:t>
            </a:r>
            <a:endParaRPr lang="en-US" sz="1700" b="0" dirty="0">
              <a:latin typeface="Segoe UI Semibold"/>
              <a:cs typeface="Segoe UI Semibold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898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0" r:id="rId2"/>
    <p:sldLayoutId id="2147483652" r:id="rId3"/>
    <p:sldLayoutId id="2147483668" r:id="rId4"/>
    <p:sldLayoutId id="2147483666" r:id="rId5"/>
  </p:sldLayoutIdLst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37770" y="2030983"/>
            <a:ext cx="10515600" cy="229085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6700" dirty="0" smtClean="0"/>
              <a:t>“我们”</a:t>
            </a:r>
            <a:r>
              <a:rPr lang="en-US" altLang="zh-CN" sz="5800" dirty="0" smtClean="0"/>
              <a:t/>
            </a:r>
            <a:br>
              <a:rPr lang="en-US" altLang="zh-CN" sz="5800" dirty="0" smtClean="0"/>
            </a:br>
            <a:r>
              <a:rPr lang="en-US" altLang="zh-CN" sz="5800" dirty="0" smtClean="0"/>
              <a:t>-</a:t>
            </a:r>
            <a:r>
              <a:rPr lang="zh-CN" altLang="en-US" sz="4900" dirty="0" smtClean="0"/>
              <a:t>慢病患者社交及数据管理云平台</a:t>
            </a:r>
            <a:r>
              <a:rPr lang="en-US" altLang="zh-CN" sz="5800" dirty="0" smtClean="0"/>
              <a:t/>
            </a:r>
            <a:br>
              <a:rPr lang="en-US" altLang="zh-CN" sz="5800" dirty="0" smtClean="0"/>
            </a:br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27092968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21679" y="352335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背景阐述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6979" y="1815152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0" indent="0">
              <a:buFontTx/>
              <a:buNone/>
            </a:pPr>
            <a:endParaRPr lang="zh-CN" altLang="en-US" sz="1700" b="0" dirty="0" smtClean="0">
              <a:latin typeface="Segoe UI Semibold"/>
              <a:cs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0751" y="1883391"/>
            <a:ext cx="6318915" cy="345288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0" indent="0">
              <a:buFontTx/>
              <a:buNone/>
            </a:pPr>
            <a:r>
              <a:rPr lang="en-US" altLang="zh-CN" sz="1700" b="0" dirty="0" smtClean="0">
                <a:latin typeface="Segoe UI Semibold"/>
                <a:cs typeface="Segoe UI Semibold"/>
              </a:rPr>
              <a:t>1</a:t>
            </a:r>
            <a:r>
              <a:rPr lang="zh-CN" altLang="en-US" sz="1700" b="0" dirty="0" smtClean="0">
                <a:latin typeface="Segoe UI Semibold"/>
                <a:cs typeface="Segoe UI Semibold"/>
              </a:rPr>
              <a:t>、互联网向移动互联网的跨越</a:t>
            </a:r>
            <a:endParaRPr lang="en-US" altLang="zh-CN" sz="1700" b="0" dirty="0" smtClean="0">
              <a:latin typeface="Segoe UI Semibold"/>
              <a:cs typeface="Segoe UI Semibold"/>
            </a:endParaRPr>
          </a:p>
          <a:p>
            <a:r>
              <a:rPr lang="en-US" altLang="zh-CN" sz="1700" dirty="0" smtClean="0">
                <a:latin typeface="Segoe UI Semibold"/>
                <a:cs typeface="Segoe UI Semibold"/>
              </a:rPr>
              <a:t>2</a:t>
            </a:r>
            <a:r>
              <a:rPr lang="zh-CN" altLang="en-US" sz="1700" dirty="0" smtClean="0">
                <a:latin typeface="Segoe UI Semibold"/>
                <a:cs typeface="Segoe UI Semibold"/>
              </a:rPr>
              <a:t>、国家政策“风口”</a:t>
            </a:r>
            <a:endParaRPr lang="en-US" altLang="zh-CN" sz="1700" dirty="0" smtClean="0">
              <a:latin typeface="Segoe UI Semibold"/>
              <a:cs typeface="Segoe UI Semibold"/>
            </a:endParaRPr>
          </a:p>
          <a:p>
            <a:r>
              <a:rPr lang="en-US" altLang="zh-CN" sz="1700" b="0" dirty="0" smtClean="0">
                <a:latin typeface="Segoe UI Semibold"/>
                <a:cs typeface="Segoe UI Semibold"/>
              </a:rPr>
              <a:t>3</a:t>
            </a:r>
            <a:r>
              <a:rPr lang="zh-CN" altLang="en-US" sz="1700" b="0" dirty="0" smtClean="0">
                <a:latin typeface="Segoe UI Semibold"/>
                <a:cs typeface="Segoe UI Semibold"/>
              </a:rPr>
              <a:t>、健康形式日益严峻，慢性病逐渐普遍化、高危化</a:t>
            </a:r>
            <a:endParaRPr lang="en-US" altLang="zh-CN" sz="1700" b="0" dirty="0" smtClean="0">
              <a:latin typeface="Segoe UI Semibold"/>
              <a:cs typeface="Segoe UI Semibold"/>
            </a:endParaRPr>
          </a:p>
          <a:p>
            <a:r>
              <a:rPr lang="en-US" altLang="zh-CN" sz="1700" dirty="0" smtClean="0">
                <a:latin typeface="Segoe UI Semibold"/>
                <a:cs typeface="Segoe UI Semibold"/>
              </a:rPr>
              <a:t>4</a:t>
            </a:r>
            <a:r>
              <a:rPr lang="zh-CN" altLang="en-US" sz="1700" dirty="0" smtClean="0">
                <a:latin typeface="Segoe UI Semibold"/>
                <a:cs typeface="Segoe UI Semibold"/>
              </a:rPr>
              <a:t>、从物质的需求向精神的需求转变；</a:t>
            </a:r>
            <a:endParaRPr lang="en-US" altLang="zh-CN" sz="1700" dirty="0" smtClean="0">
              <a:latin typeface="Segoe UI Semibold"/>
              <a:cs typeface="Segoe UI Semibold"/>
            </a:endParaRPr>
          </a:p>
          <a:p>
            <a:r>
              <a:rPr lang="en-US" altLang="zh-CN" sz="1700" b="0" dirty="0" smtClean="0">
                <a:latin typeface="Segoe UI Semibold"/>
                <a:cs typeface="Segoe UI Semibold"/>
              </a:rPr>
              <a:t>5</a:t>
            </a:r>
            <a:r>
              <a:rPr lang="zh-CN" altLang="en-US" sz="1700" dirty="0" smtClean="0">
                <a:latin typeface="Segoe UI Semibold"/>
                <a:cs typeface="Segoe UI Semibold"/>
              </a:rPr>
              <a:t>、垂直领域社交渐成趋势。</a:t>
            </a:r>
            <a:endParaRPr lang="zh-CN" altLang="en-US" sz="1700" b="0" dirty="0" smtClean="0">
              <a:latin typeface="Segoe UI Semibold"/>
              <a:cs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产品概述</a:t>
            </a:r>
            <a:r>
              <a:rPr lang="en-US" altLang="zh-CN" dirty="0" smtClean="0"/>
              <a:t>—</a:t>
            </a:r>
            <a:r>
              <a:rPr lang="zh-CN" altLang="en-US" sz="2400" dirty="0" smtClean="0"/>
              <a:t>如何描述</a:t>
            </a:r>
            <a:endParaRPr lang="zh-CN" altLang="en-US" sz="24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68719" y="1685768"/>
            <a:ext cx="10515600" cy="3257931"/>
          </a:xfrm>
        </p:spPr>
        <p:txBody>
          <a:bodyPr/>
          <a:lstStyle/>
          <a:p>
            <a:r>
              <a:rPr lang="zh-CN" altLang="en-US" dirty="0" smtClean="0"/>
              <a:t>为什么叫“我们”</a:t>
            </a:r>
            <a:endParaRPr lang="en-US" altLang="zh-CN" dirty="0" smtClean="0"/>
          </a:p>
          <a:p>
            <a:r>
              <a:rPr lang="zh-CN" altLang="en-US" dirty="0" smtClean="0"/>
              <a:t>“我们”用来干什么</a:t>
            </a:r>
            <a:endParaRPr lang="en-US" altLang="zh-CN" dirty="0" smtClean="0"/>
          </a:p>
          <a:p>
            <a:r>
              <a:rPr lang="zh-CN" altLang="en-US" dirty="0" smtClean="0"/>
              <a:t>轻</a:t>
            </a:r>
            <a:r>
              <a:rPr lang="zh-CN" altLang="en-US" dirty="0" smtClean="0"/>
              <a:t>资产 产品：手机</a:t>
            </a:r>
            <a:r>
              <a:rPr lang="en-US" altLang="zh-CN" dirty="0" smtClean="0"/>
              <a:t>APP </a:t>
            </a:r>
            <a:r>
              <a:rPr lang="zh-CN" altLang="en-US" dirty="0" smtClean="0"/>
              <a:t>“我们”</a:t>
            </a:r>
            <a:endParaRPr lang="en-US" altLang="zh-CN" dirty="0" smtClean="0"/>
          </a:p>
          <a:p>
            <a:r>
              <a:rPr lang="zh-CN" altLang="en-US" dirty="0" smtClean="0"/>
              <a:t>轻</a:t>
            </a:r>
            <a:r>
              <a:rPr lang="zh-CN" altLang="en-US" dirty="0"/>
              <a:t>量</a:t>
            </a:r>
            <a:r>
              <a:rPr lang="zh-CN" altLang="en-US" dirty="0" smtClean="0"/>
              <a:t>化</a:t>
            </a:r>
            <a:endParaRPr lang="en-US" altLang="zh-CN" dirty="0" smtClean="0"/>
          </a:p>
          <a:p>
            <a:r>
              <a:rPr lang="zh-CN" altLang="en-US" dirty="0"/>
              <a:t>卡片</a:t>
            </a:r>
            <a:r>
              <a:rPr lang="zh-CN" altLang="en-US" dirty="0" smtClean="0"/>
              <a:t>式的平台</a:t>
            </a:r>
            <a:endParaRPr lang="en-US" altLang="zh-CN" dirty="0" smtClean="0"/>
          </a:p>
          <a:p>
            <a:r>
              <a:rPr lang="zh-CN" altLang="en-US" dirty="0"/>
              <a:t>精</a:t>
            </a:r>
            <a:r>
              <a:rPr lang="zh-CN" altLang="en-US" dirty="0" smtClean="0"/>
              <a:t>准的匹配推荐</a:t>
            </a:r>
            <a:endParaRPr lang="en-US" altLang="zh-CN" dirty="0" smtClean="0"/>
          </a:p>
          <a:p>
            <a:r>
              <a:rPr lang="zh-CN" altLang="en-US" dirty="0"/>
              <a:t>有情</a:t>
            </a:r>
            <a:r>
              <a:rPr lang="zh-CN" altLang="en-US" dirty="0" smtClean="0"/>
              <a:t>怀的社交设计，让用户感受到记录的有价值，周边产品回忆纪念册纪念视频，照片文字加上病友的鼓励评论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远景、使命与目标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市场与竞争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市场状况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21679" y="352335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市场与竞争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竞争分析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市场与竞争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竞争策略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市场与竞争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商业模式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产品规划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运营推广</a:t>
            </a:r>
            <a:endParaRPr lang="en-US" dirty="0"/>
          </a:p>
        </p:txBody>
      </p:sp>
      <p:sp>
        <p:nvSpPr>
          <p:cNvPr id="32" name="Slide Number Placeholder 3"/>
          <p:cNvSpPr txBox="1">
            <a:spLocks/>
          </p:cNvSpPr>
          <p:nvPr/>
        </p:nvSpPr>
        <p:spPr>
          <a:xfrm>
            <a:off x="11258190" y="6329083"/>
            <a:ext cx="620046" cy="255491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  <a:latin typeface="Arial" charset="0"/>
              </a:rPr>
              <a:t>Slide </a:t>
            </a:r>
            <a:fld id="{C5525F93-9433-4633-8CE4-960FBBF7E7C5}" type="slidenum">
              <a:rPr lang="en-US" sz="800" smtClean="0">
                <a:solidFill>
                  <a:schemeClr val="bg1">
                    <a:lumMod val="50000"/>
                  </a:schemeClr>
                </a:solidFill>
                <a:latin typeface="Arial" charset="0"/>
              </a:rPr>
              <a:pPr/>
              <a:t>10</a:t>
            </a:fld>
            <a:endParaRPr lang="en-US" sz="800" dirty="0" smtClean="0">
              <a:solidFill>
                <a:schemeClr val="bg1">
                  <a:lumMod val="50000"/>
                </a:scheme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8945286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创业团队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8493628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21679" y="352335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财务预测及融资需求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Mix">
  <a:themeElements>
    <a:clrScheme name="Office Mix">
      <a:dk1>
        <a:srgbClr val="2B2B2B"/>
      </a:dk1>
      <a:lt1>
        <a:srgbClr val="FFFFFF"/>
      </a:lt1>
      <a:dk2>
        <a:srgbClr val="505050"/>
      </a:dk2>
      <a:lt2>
        <a:srgbClr val="F2F2F2"/>
      </a:lt2>
      <a:accent1>
        <a:srgbClr val="0078D7"/>
      </a:accent1>
      <a:accent2>
        <a:srgbClr val="D83B01"/>
      </a:accent2>
      <a:accent3>
        <a:srgbClr val="FF8C00"/>
      </a:accent3>
      <a:accent4>
        <a:srgbClr val="5C2D91"/>
      </a:accent4>
      <a:accent5>
        <a:srgbClr val="8CBD18"/>
      </a:accent5>
      <a:accent6>
        <a:srgbClr val="FFB900"/>
      </a:accent6>
      <a:hlink>
        <a:srgbClr val="0078D7"/>
      </a:hlink>
      <a:folHlink>
        <a:srgbClr val="4DB0FF"/>
      </a:folHlink>
    </a:clrScheme>
    <a:fontScheme name="Office Mix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0" indent="0">
          <a:buFontTx/>
          <a:buNone/>
          <a:defRPr sz="1700" b="0" dirty="0" smtClean="0">
            <a:latin typeface="Segoe UI Semibold"/>
            <a:cs typeface="Segoe UI Semibold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MixStart_Update_6.5.15" id="{60899B57-461E-436C-89B9-AD8BFE676B7F}" vid="{4C140D03-C9A6-4F01-A333-D0890A71F5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Create an Office Mix</Template>
  <TotalTime>715</TotalTime>
  <Words>149</Words>
  <Application>Microsoft Office PowerPoint</Application>
  <PresentationFormat>自定义</PresentationFormat>
  <Paragraphs>26</Paragraphs>
  <Slides>12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Mix</vt:lpstr>
      <vt:lpstr>“我们” -慢病患者社交及数据管理云平台 </vt:lpstr>
      <vt:lpstr>背景阐述</vt:lpstr>
      <vt:lpstr>产品概述—如何描述</vt:lpstr>
      <vt:lpstr>远景、使命与目标</vt:lpstr>
      <vt:lpstr>市场与竞争—市场状况</vt:lpstr>
      <vt:lpstr>市场与竞争—竞争分析</vt:lpstr>
      <vt:lpstr>市场与竞争—竞争策略</vt:lpstr>
      <vt:lpstr>市场与竞争—商业模式</vt:lpstr>
      <vt:lpstr>产品规划</vt:lpstr>
      <vt:lpstr>运营推广</vt:lpstr>
      <vt:lpstr>创业团队</vt:lpstr>
      <vt:lpstr>财务预测及融资需求</vt:lpstr>
    </vt:vector>
  </TitlesOfParts>
  <Company>AS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“我们” 慢病患者社交</dc:title>
  <dc:creator>Shane Zou</dc:creator>
  <cp:lastModifiedBy>123123</cp:lastModifiedBy>
  <cp:revision>39</cp:revision>
  <dcterms:created xsi:type="dcterms:W3CDTF">2015-09-10T12:16:06Z</dcterms:created>
  <dcterms:modified xsi:type="dcterms:W3CDTF">2015-09-16T11:16:36Z</dcterms:modified>
</cp:coreProperties>
</file>